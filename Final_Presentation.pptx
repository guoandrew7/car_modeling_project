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8288000" cy="10287000"/>
  <p:notesSz cx="6858000" cy="9144000"/>
  <p:embeddedFontLst>
    <p:embeddedFont>
      <p:font typeface="Anton" pitchFamily="2" charset="77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645" autoAdjust="0"/>
  </p:normalViewPr>
  <p:slideViewPr>
    <p:cSldViewPr>
      <p:cViewPr varScale="1">
        <p:scale>
          <a:sx n="75" d="100"/>
          <a:sy n="75" d="100"/>
        </p:scale>
        <p:origin x="54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82828" y="6523077"/>
            <a:ext cx="12144022" cy="12033622"/>
          </a:xfrm>
          <a:custGeom>
            <a:avLst/>
            <a:gdLst/>
            <a:ahLst/>
            <a:cxnLst/>
            <a:rect l="l" t="t" r="r" b="b"/>
            <a:pathLst>
              <a:path w="12144022" h="12033622">
                <a:moveTo>
                  <a:pt x="0" y="0"/>
                </a:moveTo>
                <a:lnTo>
                  <a:pt x="12144022" y="0"/>
                </a:lnTo>
                <a:lnTo>
                  <a:pt x="12144022" y="12033622"/>
                </a:lnTo>
                <a:lnTo>
                  <a:pt x="0" y="120336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4705825">
            <a:off x="13046539" y="-3617438"/>
            <a:ext cx="8684054" cy="9292276"/>
          </a:xfrm>
          <a:custGeom>
            <a:avLst/>
            <a:gdLst/>
            <a:ahLst/>
            <a:cxnLst/>
            <a:rect l="l" t="t" r="r" b="b"/>
            <a:pathLst>
              <a:path w="8684054" h="9292276">
                <a:moveTo>
                  <a:pt x="0" y="0"/>
                </a:moveTo>
                <a:lnTo>
                  <a:pt x="8684055" y="0"/>
                </a:lnTo>
                <a:lnTo>
                  <a:pt x="8684055" y="9292276"/>
                </a:lnTo>
                <a:lnTo>
                  <a:pt x="0" y="92922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3907709">
            <a:off x="95027" y="-7874481"/>
            <a:ext cx="8684054" cy="9292276"/>
          </a:xfrm>
          <a:custGeom>
            <a:avLst/>
            <a:gdLst/>
            <a:ahLst/>
            <a:cxnLst/>
            <a:rect l="l" t="t" r="r" b="b"/>
            <a:pathLst>
              <a:path w="8684054" h="9292276">
                <a:moveTo>
                  <a:pt x="0" y="0"/>
                </a:moveTo>
                <a:lnTo>
                  <a:pt x="8684054" y="0"/>
                </a:lnTo>
                <a:lnTo>
                  <a:pt x="8684054" y="9292276"/>
                </a:lnTo>
                <a:lnTo>
                  <a:pt x="0" y="92922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1152441" y="8598262"/>
            <a:ext cx="4903922" cy="838413"/>
            <a:chOff x="0" y="0"/>
            <a:chExt cx="1399822" cy="2393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99822" cy="239324"/>
            </a:xfrm>
            <a:custGeom>
              <a:avLst/>
              <a:gdLst/>
              <a:ahLst/>
              <a:cxnLst/>
              <a:rect l="l" t="t" r="r" b="b"/>
              <a:pathLst>
                <a:path w="1399822" h="239324">
                  <a:moveTo>
                    <a:pt x="48940" y="0"/>
                  </a:moveTo>
                  <a:lnTo>
                    <a:pt x="1350882" y="0"/>
                  </a:lnTo>
                  <a:cubicBezTo>
                    <a:pt x="1377911" y="0"/>
                    <a:pt x="1399822" y="21911"/>
                    <a:pt x="1399822" y="48940"/>
                  </a:cubicBezTo>
                  <a:lnTo>
                    <a:pt x="1399822" y="190384"/>
                  </a:lnTo>
                  <a:cubicBezTo>
                    <a:pt x="1399822" y="217413"/>
                    <a:pt x="1377911" y="239324"/>
                    <a:pt x="1350882" y="239324"/>
                  </a:cubicBezTo>
                  <a:lnTo>
                    <a:pt x="48940" y="239324"/>
                  </a:lnTo>
                  <a:cubicBezTo>
                    <a:pt x="21911" y="239324"/>
                    <a:pt x="0" y="217413"/>
                    <a:pt x="0" y="190384"/>
                  </a:cubicBezTo>
                  <a:lnTo>
                    <a:pt x="0" y="48940"/>
                  </a:lnTo>
                  <a:cubicBezTo>
                    <a:pt x="0" y="21911"/>
                    <a:pt x="21911" y="0"/>
                    <a:pt x="48940" y="0"/>
                  </a:cubicBezTo>
                  <a:close/>
                </a:path>
              </a:pathLst>
            </a:custGeom>
            <a:solidFill>
              <a:srgbClr val="5271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399822" cy="2869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7137352" y="5309175"/>
            <a:ext cx="10121948" cy="4011972"/>
          </a:xfrm>
          <a:custGeom>
            <a:avLst/>
            <a:gdLst/>
            <a:ahLst/>
            <a:cxnLst/>
            <a:rect l="l" t="t" r="r" b="b"/>
            <a:pathLst>
              <a:path w="10121948" h="4011972">
                <a:moveTo>
                  <a:pt x="0" y="0"/>
                </a:moveTo>
                <a:lnTo>
                  <a:pt x="10121948" y="0"/>
                </a:lnTo>
                <a:lnTo>
                  <a:pt x="10121948" y="4011972"/>
                </a:lnTo>
                <a:lnTo>
                  <a:pt x="0" y="401197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803923" y="2996026"/>
            <a:ext cx="8949677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Can we accurately predict a car’s price from its features?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3923" y="1122020"/>
            <a:ext cx="1221730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WHAT DRIVES CAR PRICES?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86536" y="8753864"/>
            <a:ext cx="4650816" cy="527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3486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ANDREW GUO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2269EF30-AC29-EDE0-A2A7-091445977D77}"/>
              </a:ext>
            </a:extLst>
          </p:cNvPr>
          <p:cNvSpPr txBox="1"/>
          <p:nvPr/>
        </p:nvSpPr>
        <p:spPr>
          <a:xfrm>
            <a:off x="803922" y="3557813"/>
            <a:ext cx="8949677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What features of the car are most influential on its cost?</a:t>
            </a: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ECB6712D-48DD-DCC2-F35C-E9768F09AB02}"/>
              </a:ext>
            </a:extLst>
          </p:cNvPr>
          <p:cNvSpPr txBox="1"/>
          <p:nvPr/>
        </p:nvSpPr>
        <p:spPr>
          <a:xfrm>
            <a:off x="829322" y="4186321"/>
            <a:ext cx="8949677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Which model most effectively predicts the price?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5584988" y="2818566"/>
            <a:ext cx="12548706" cy="7468434"/>
          </a:xfrm>
          <a:custGeom>
            <a:avLst/>
            <a:gdLst/>
            <a:ahLst/>
            <a:cxnLst/>
            <a:rect l="l" t="t" r="r" b="b"/>
            <a:pathLst>
              <a:path w="12548706" h="7468434">
                <a:moveTo>
                  <a:pt x="0" y="0"/>
                </a:moveTo>
                <a:lnTo>
                  <a:pt x="12548707" y="0"/>
                </a:lnTo>
                <a:lnTo>
                  <a:pt x="12548707" y="7468434"/>
                </a:lnTo>
                <a:lnTo>
                  <a:pt x="0" y="74684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998986">
            <a:off x="-878797" y="-1611270"/>
            <a:ext cx="12548706" cy="7468434"/>
          </a:xfrm>
          <a:custGeom>
            <a:avLst/>
            <a:gdLst/>
            <a:ahLst/>
            <a:cxnLst/>
            <a:rect l="l" t="t" r="r" b="b"/>
            <a:pathLst>
              <a:path w="12548706" h="7468434">
                <a:moveTo>
                  <a:pt x="0" y="0"/>
                </a:moveTo>
                <a:lnTo>
                  <a:pt x="12548707" y="0"/>
                </a:lnTo>
                <a:lnTo>
                  <a:pt x="12548707" y="7468434"/>
                </a:lnTo>
                <a:lnTo>
                  <a:pt x="0" y="74684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3493371" y="7810698"/>
            <a:ext cx="11301259" cy="1935341"/>
          </a:xfrm>
          <a:custGeom>
            <a:avLst/>
            <a:gdLst/>
            <a:ahLst/>
            <a:cxnLst/>
            <a:rect l="l" t="t" r="r" b="b"/>
            <a:pathLst>
              <a:path w="11301259" h="1935341">
                <a:moveTo>
                  <a:pt x="0" y="0"/>
                </a:moveTo>
                <a:lnTo>
                  <a:pt x="11301258" y="0"/>
                </a:lnTo>
                <a:lnTo>
                  <a:pt x="11301258" y="1935341"/>
                </a:lnTo>
                <a:lnTo>
                  <a:pt x="0" y="1935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7197268" y="303744"/>
            <a:ext cx="389346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THE DATA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008941"/>
            <a:ext cx="2892247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OVERVIEW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3545662"/>
            <a:ext cx="5224205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Source: Vehicle Sales Data (Kaggle)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Observations: 558836 rows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Condition: condition of the vehicle on scale of 1-100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87816" y="1999122"/>
            <a:ext cx="271236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FEATURES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16149" y="1999122"/>
            <a:ext cx="4443151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PREPROCESSING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531898" y="3323808"/>
            <a:ext cx="5224205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Categories: 16 variables cut down to 9 key predictors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Numeric: Odometer, Year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Categorical: Body, Condition, Make, Color, State, Interior, Transmission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425622" y="3323808"/>
            <a:ext cx="5224205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Body types simplified to 10 generic styles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Removed estimated_value category for more robust data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Test size of 25%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351506" y="9984164"/>
            <a:ext cx="5584988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https://www.kaggle.com/datasets/syedanwarafridi/vehicle-sales-data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7982" y="-1956128"/>
            <a:ext cx="7546008" cy="6050526"/>
          </a:xfrm>
          <a:custGeom>
            <a:avLst/>
            <a:gdLst/>
            <a:ahLst/>
            <a:cxnLst/>
            <a:rect l="l" t="t" r="r" b="b"/>
            <a:pathLst>
              <a:path w="7546008" h="6050526">
                <a:moveTo>
                  <a:pt x="0" y="0"/>
                </a:moveTo>
                <a:lnTo>
                  <a:pt x="7546008" y="0"/>
                </a:lnTo>
                <a:lnTo>
                  <a:pt x="7546008" y="6050526"/>
                </a:lnTo>
                <a:lnTo>
                  <a:pt x="0" y="60505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5755343" y="2318136"/>
            <a:ext cx="12882287" cy="10329252"/>
          </a:xfrm>
          <a:custGeom>
            <a:avLst/>
            <a:gdLst/>
            <a:ahLst/>
            <a:cxnLst/>
            <a:rect l="l" t="t" r="r" b="b"/>
            <a:pathLst>
              <a:path w="12882287" h="10329252">
                <a:moveTo>
                  <a:pt x="0" y="0"/>
                </a:moveTo>
                <a:lnTo>
                  <a:pt x="12882287" y="0"/>
                </a:lnTo>
                <a:lnTo>
                  <a:pt x="12882287" y="10329253"/>
                </a:lnTo>
                <a:lnTo>
                  <a:pt x="0" y="10329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2047080" y="5604442"/>
            <a:ext cx="6102834" cy="4446987"/>
          </a:xfrm>
          <a:custGeom>
            <a:avLst/>
            <a:gdLst/>
            <a:ahLst/>
            <a:cxnLst/>
            <a:rect l="l" t="t" r="r" b="b"/>
            <a:pathLst>
              <a:path w="6102834" h="4446987">
                <a:moveTo>
                  <a:pt x="0" y="0"/>
                </a:moveTo>
                <a:lnTo>
                  <a:pt x="6102834" y="0"/>
                </a:lnTo>
                <a:lnTo>
                  <a:pt x="6102834" y="4446987"/>
                </a:lnTo>
                <a:lnTo>
                  <a:pt x="0" y="44469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09" t="-1350" b="-144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0108609" y="5604442"/>
            <a:ext cx="5959112" cy="4446987"/>
          </a:xfrm>
          <a:custGeom>
            <a:avLst/>
            <a:gdLst/>
            <a:ahLst/>
            <a:cxnLst/>
            <a:rect l="l" t="t" r="r" b="b"/>
            <a:pathLst>
              <a:path w="5959112" h="4446987">
                <a:moveTo>
                  <a:pt x="0" y="0"/>
                </a:moveTo>
                <a:lnTo>
                  <a:pt x="5959112" y="0"/>
                </a:lnTo>
                <a:lnTo>
                  <a:pt x="5959112" y="4446987"/>
                </a:lnTo>
                <a:lnTo>
                  <a:pt x="0" y="44469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7129066" y="37216"/>
            <a:ext cx="4029868" cy="17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602"/>
              </a:lnSpc>
              <a:spcBef>
                <a:spcPct val="0"/>
              </a:spcBef>
            </a:pPr>
            <a:r>
              <a:rPr lang="en-US" sz="1043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MODELS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49548" y="1794261"/>
            <a:ext cx="6100366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LOG REGRESSION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RMSE: 5443.38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R2: 0.68</a:t>
            </a:r>
          </a:p>
          <a:p>
            <a:pPr algn="ctr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Some negative predictions,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accurately follows linear trends but struggles with non-linear relationships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037982" y="1794261"/>
            <a:ext cx="6100366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RANDOM FOREST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RMSE: 3956.30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R2: 0.83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Mean residual: -21.18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Std of residuals: 3956.26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MAE: 2362.32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02856" y="0"/>
            <a:ext cx="15585144" cy="12496451"/>
          </a:xfrm>
          <a:custGeom>
            <a:avLst/>
            <a:gdLst/>
            <a:ahLst/>
            <a:cxnLst/>
            <a:rect l="l" t="t" r="r" b="b"/>
            <a:pathLst>
              <a:path w="15585144" h="12496451">
                <a:moveTo>
                  <a:pt x="0" y="0"/>
                </a:moveTo>
                <a:lnTo>
                  <a:pt x="15585144" y="0"/>
                </a:lnTo>
                <a:lnTo>
                  <a:pt x="15585144" y="12496451"/>
                </a:lnTo>
                <a:lnTo>
                  <a:pt x="0" y="124964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226538" y="-4654377"/>
            <a:ext cx="12882287" cy="10329252"/>
          </a:xfrm>
          <a:custGeom>
            <a:avLst/>
            <a:gdLst/>
            <a:ahLst/>
            <a:cxnLst/>
            <a:rect l="l" t="t" r="r" b="b"/>
            <a:pathLst>
              <a:path w="12882287" h="10329252">
                <a:moveTo>
                  <a:pt x="0" y="0"/>
                </a:moveTo>
                <a:lnTo>
                  <a:pt x="12882288" y="0"/>
                </a:lnTo>
                <a:lnTo>
                  <a:pt x="12882288" y="10329253"/>
                </a:lnTo>
                <a:lnTo>
                  <a:pt x="0" y="10329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8700" y="2026492"/>
            <a:ext cx="16230600" cy="799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Random Forest outperforms Linear Regression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Lower RMSE and R2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Both models have relatively high RMSE given that the vast majority of cars sell for under 50k</a:t>
            </a:r>
          </a:p>
          <a:p>
            <a:pPr algn="l">
              <a:lnSpc>
                <a:spcPts val="4200"/>
              </a:lnSpc>
            </a:pPr>
            <a:endParaRPr lang="en-US" sz="300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Influential Features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Odometer, make, and body type were the most powerful predictors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Transmission, interior material, and color were the least</a:t>
            </a:r>
          </a:p>
          <a:p>
            <a:pPr algn="l">
              <a:lnSpc>
                <a:spcPts val="4200"/>
              </a:lnSpc>
            </a:pPr>
            <a:endParaRPr lang="en-US" sz="300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Residuals (Random Forest Only)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Mean: slightly underestimates price but is very close to 0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Standard Deviation: very high, almost 10% error per prediction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MAE: lower than STD, not as affected by outliers</a:t>
            </a:r>
          </a:p>
          <a:p>
            <a:pPr algn="l">
              <a:lnSpc>
                <a:spcPts val="4200"/>
              </a:lnSpc>
            </a:pPr>
            <a:endParaRPr lang="en-US" sz="300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Conclusion: Random Forest was very effective at predicting car selling prices but struggled with outliers at extremely high or low costs</a:t>
            </a:r>
          </a:p>
        </p:txBody>
      </p:sp>
      <p:sp>
        <p:nvSpPr>
          <p:cNvPr id="5" name="Freeform 5"/>
          <p:cNvSpPr/>
          <p:nvPr/>
        </p:nvSpPr>
        <p:spPr>
          <a:xfrm>
            <a:off x="13661698" y="4850456"/>
            <a:ext cx="3088899" cy="2795540"/>
          </a:xfrm>
          <a:custGeom>
            <a:avLst/>
            <a:gdLst/>
            <a:ahLst/>
            <a:cxnLst/>
            <a:rect l="l" t="t" r="r" b="b"/>
            <a:pathLst>
              <a:path w="3088899" h="2795540">
                <a:moveTo>
                  <a:pt x="0" y="0"/>
                </a:moveTo>
                <a:lnTo>
                  <a:pt x="3088899" y="0"/>
                </a:lnTo>
                <a:lnTo>
                  <a:pt x="3088899" y="2795540"/>
                </a:lnTo>
                <a:lnTo>
                  <a:pt x="0" y="27955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028700" y="310225"/>
            <a:ext cx="5089980" cy="17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602"/>
              </a:lnSpc>
              <a:spcBef>
                <a:spcPct val="0"/>
              </a:spcBef>
            </a:pPr>
            <a:r>
              <a:rPr lang="en-US" sz="1043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285</Words>
  <Application>Microsoft Macintosh PowerPoint</Application>
  <PresentationFormat>Custom</PresentationFormat>
  <Paragraphs>53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Anton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</dc:title>
  <cp:lastModifiedBy>Andrew Guo</cp:lastModifiedBy>
  <cp:revision>2</cp:revision>
  <dcterms:created xsi:type="dcterms:W3CDTF">2006-08-16T00:00:00Z</dcterms:created>
  <dcterms:modified xsi:type="dcterms:W3CDTF">2025-12-10T12:36:00Z</dcterms:modified>
  <dc:identifier>DAG7GShJpOQ</dc:identifier>
</cp:coreProperties>
</file>