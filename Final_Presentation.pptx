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nton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2828" y="6523077"/>
            <a:ext cx="12144022" cy="12033622"/>
          </a:xfrm>
          <a:custGeom>
            <a:avLst/>
            <a:gdLst/>
            <a:ahLst/>
            <a:cxnLst/>
            <a:rect r="r" b="b" t="t" l="l"/>
            <a:pathLst>
              <a:path h="12033622" w="12144022">
                <a:moveTo>
                  <a:pt x="0" y="0"/>
                </a:moveTo>
                <a:lnTo>
                  <a:pt x="12144022" y="0"/>
                </a:lnTo>
                <a:lnTo>
                  <a:pt x="12144022" y="12033622"/>
                </a:lnTo>
                <a:lnTo>
                  <a:pt x="0" y="1203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705825">
            <a:off x="13046539" y="-3617438"/>
            <a:ext cx="8684054" cy="9292276"/>
          </a:xfrm>
          <a:custGeom>
            <a:avLst/>
            <a:gdLst/>
            <a:ahLst/>
            <a:cxnLst/>
            <a:rect r="r" b="b" t="t" l="l"/>
            <a:pathLst>
              <a:path h="9292276" w="8684054">
                <a:moveTo>
                  <a:pt x="0" y="0"/>
                </a:moveTo>
                <a:lnTo>
                  <a:pt x="8684055" y="0"/>
                </a:lnTo>
                <a:lnTo>
                  <a:pt x="8684055" y="9292276"/>
                </a:lnTo>
                <a:lnTo>
                  <a:pt x="0" y="929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907709">
            <a:off x="95027" y="-7874481"/>
            <a:ext cx="8684054" cy="9292276"/>
          </a:xfrm>
          <a:custGeom>
            <a:avLst/>
            <a:gdLst/>
            <a:ahLst/>
            <a:cxnLst/>
            <a:rect r="r" b="b" t="t" l="l"/>
            <a:pathLst>
              <a:path h="9292276" w="8684054">
                <a:moveTo>
                  <a:pt x="0" y="0"/>
                </a:moveTo>
                <a:lnTo>
                  <a:pt x="8684054" y="0"/>
                </a:lnTo>
                <a:lnTo>
                  <a:pt x="8684054" y="9292276"/>
                </a:lnTo>
                <a:lnTo>
                  <a:pt x="0" y="9292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2441" y="8598262"/>
            <a:ext cx="4903922" cy="838413"/>
            <a:chOff x="0" y="0"/>
            <a:chExt cx="1399822" cy="239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9822" cy="239324"/>
            </a:xfrm>
            <a:custGeom>
              <a:avLst/>
              <a:gdLst/>
              <a:ahLst/>
              <a:cxnLst/>
              <a:rect r="r" b="b" t="t" l="l"/>
              <a:pathLst>
                <a:path h="239324" w="1399822">
                  <a:moveTo>
                    <a:pt x="48940" y="0"/>
                  </a:moveTo>
                  <a:lnTo>
                    <a:pt x="1350882" y="0"/>
                  </a:lnTo>
                  <a:cubicBezTo>
                    <a:pt x="1377911" y="0"/>
                    <a:pt x="1399822" y="21911"/>
                    <a:pt x="1399822" y="48940"/>
                  </a:cubicBezTo>
                  <a:lnTo>
                    <a:pt x="1399822" y="190384"/>
                  </a:lnTo>
                  <a:cubicBezTo>
                    <a:pt x="1399822" y="217413"/>
                    <a:pt x="1377911" y="239324"/>
                    <a:pt x="1350882" y="239324"/>
                  </a:cubicBezTo>
                  <a:lnTo>
                    <a:pt x="48940" y="239324"/>
                  </a:lnTo>
                  <a:cubicBezTo>
                    <a:pt x="21911" y="239324"/>
                    <a:pt x="0" y="217413"/>
                    <a:pt x="0" y="190384"/>
                  </a:cubicBezTo>
                  <a:lnTo>
                    <a:pt x="0" y="48940"/>
                  </a:lnTo>
                  <a:cubicBezTo>
                    <a:pt x="0" y="21911"/>
                    <a:pt x="21911" y="0"/>
                    <a:pt x="48940" y="0"/>
                  </a:cubicBezTo>
                  <a:close/>
                </a:path>
              </a:pathLst>
            </a:custGeom>
            <a:solidFill>
              <a:srgbClr val="527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99822" cy="28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137352" y="5309175"/>
            <a:ext cx="10121948" cy="4011972"/>
          </a:xfrm>
          <a:custGeom>
            <a:avLst/>
            <a:gdLst/>
            <a:ahLst/>
            <a:cxnLst/>
            <a:rect r="r" b="b" t="t" l="l"/>
            <a:pathLst>
              <a:path h="4011972" w="10121948">
                <a:moveTo>
                  <a:pt x="0" y="0"/>
                </a:moveTo>
                <a:lnTo>
                  <a:pt x="10121948" y="0"/>
                </a:lnTo>
                <a:lnTo>
                  <a:pt x="10121948" y="4011972"/>
                </a:lnTo>
                <a:lnTo>
                  <a:pt x="0" y="4011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923" y="2996026"/>
            <a:ext cx="95459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Can we accurately predict a car’s price from its features, and which features most strongly determine the selling price?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923" y="1122020"/>
            <a:ext cx="1221730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WHAT DRIVES CAR PRICES?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6536" y="8753864"/>
            <a:ext cx="4650816" cy="52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348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ANDREW GUO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584988" y="2818566"/>
            <a:ext cx="12548706" cy="7468434"/>
          </a:xfrm>
          <a:custGeom>
            <a:avLst/>
            <a:gdLst/>
            <a:ahLst/>
            <a:cxnLst/>
            <a:rect r="r" b="b" t="t" l="l"/>
            <a:pathLst>
              <a:path h="7468434" w="12548706">
                <a:moveTo>
                  <a:pt x="0" y="0"/>
                </a:moveTo>
                <a:lnTo>
                  <a:pt x="12548707" y="0"/>
                </a:lnTo>
                <a:lnTo>
                  <a:pt x="12548707" y="7468434"/>
                </a:lnTo>
                <a:lnTo>
                  <a:pt x="0" y="7468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98986">
            <a:off x="-878797" y="-1611270"/>
            <a:ext cx="12548706" cy="7468434"/>
          </a:xfrm>
          <a:custGeom>
            <a:avLst/>
            <a:gdLst/>
            <a:ahLst/>
            <a:cxnLst/>
            <a:rect r="r" b="b" t="t" l="l"/>
            <a:pathLst>
              <a:path h="7468434" w="12548706">
                <a:moveTo>
                  <a:pt x="0" y="0"/>
                </a:moveTo>
                <a:lnTo>
                  <a:pt x="12548707" y="0"/>
                </a:lnTo>
                <a:lnTo>
                  <a:pt x="12548707" y="7468434"/>
                </a:lnTo>
                <a:lnTo>
                  <a:pt x="0" y="7468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7810698"/>
            <a:ext cx="11301259" cy="1935341"/>
          </a:xfrm>
          <a:custGeom>
            <a:avLst/>
            <a:gdLst/>
            <a:ahLst/>
            <a:cxnLst/>
            <a:rect r="r" b="b" t="t" l="l"/>
            <a:pathLst>
              <a:path h="1935341" w="11301259">
                <a:moveTo>
                  <a:pt x="0" y="0"/>
                </a:moveTo>
                <a:lnTo>
                  <a:pt x="11301258" y="0"/>
                </a:lnTo>
                <a:lnTo>
                  <a:pt x="11301258" y="1935341"/>
                </a:lnTo>
                <a:lnTo>
                  <a:pt x="0" y="1935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97268" y="303744"/>
            <a:ext cx="389346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THE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08941"/>
            <a:ext cx="289224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545662"/>
            <a:ext cx="522420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Source: Vehicle Sales Data (Kaggle)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Observations: 558836 rows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Condition: condition of the vehicle on scale of 1-100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7816" y="1999122"/>
            <a:ext cx="2712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6149" y="1999122"/>
            <a:ext cx="444315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31898" y="3323808"/>
            <a:ext cx="5224205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Categories: 16 variables cut down to 9 key predictors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Numeric: Odometer, Year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Categorical: Body, Condition, Make, Color, State, Interior, Transmission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425622" y="3323808"/>
            <a:ext cx="522420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Body types simplified to 10 generic styles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Removed estimated_value category for more robust data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Test size of 25%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1506" y="9984164"/>
            <a:ext cx="55849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https://www.kaggle.com/datasets/syedanwarafridi/vehicle-sales-data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37982" y="-1956128"/>
            <a:ext cx="7546008" cy="6050526"/>
          </a:xfrm>
          <a:custGeom>
            <a:avLst/>
            <a:gdLst/>
            <a:ahLst/>
            <a:cxnLst/>
            <a:rect r="r" b="b" t="t" l="l"/>
            <a:pathLst>
              <a:path h="6050526" w="7546008">
                <a:moveTo>
                  <a:pt x="0" y="0"/>
                </a:moveTo>
                <a:lnTo>
                  <a:pt x="7546008" y="0"/>
                </a:lnTo>
                <a:lnTo>
                  <a:pt x="7546008" y="6050526"/>
                </a:lnTo>
                <a:lnTo>
                  <a:pt x="0" y="605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55343" y="2318136"/>
            <a:ext cx="12882287" cy="10329252"/>
          </a:xfrm>
          <a:custGeom>
            <a:avLst/>
            <a:gdLst/>
            <a:ahLst/>
            <a:cxnLst/>
            <a:rect r="r" b="b" t="t" l="l"/>
            <a:pathLst>
              <a:path h="10329252" w="12882287">
                <a:moveTo>
                  <a:pt x="0" y="0"/>
                </a:moveTo>
                <a:lnTo>
                  <a:pt x="12882287" y="0"/>
                </a:lnTo>
                <a:lnTo>
                  <a:pt x="12882287" y="10329253"/>
                </a:lnTo>
                <a:lnTo>
                  <a:pt x="0" y="10329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7080" y="5604442"/>
            <a:ext cx="6102834" cy="4446987"/>
          </a:xfrm>
          <a:custGeom>
            <a:avLst/>
            <a:gdLst/>
            <a:ahLst/>
            <a:cxnLst/>
            <a:rect r="r" b="b" t="t" l="l"/>
            <a:pathLst>
              <a:path h="4446987" w="6102834">
                <a:moveTo>
                  <a:pt x="0" y="0"/>
                </a:moveTo>
                <a:lnTo>
                  <a:pt x="6102834" y="0"/>
                </a:lnTo>
                <a:lnTo>
                  <a:pt x="6102834" y="4446987"/>
                </a:lnTo>
                <a:lnTo>
                  <a:pt x="0" y="444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9" t="-1350" r="0" b="-144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08609" y="5604442"/>
            <a:ext cx="5959112" cy="4446987"/>
          </a:xfrm>
          <a:custGeom>
            <a:avLst/>
            <a:gdLst/>
            <a:ahLst/>
            <a:cxnLst/>
            <a:rect r="r" b="b" t="t" l="l"/>
            <a:pathLst>
              <a:path h="4446987" w="5959112">
                <a:moveTo>
                  <a:pt x="0" y="0"/>
                </a:moveTo>
                <a:lnTo>
                  <a:pt x="5959112" y="0"/>
                </a:lnTo>
                <a:lnTo>
                  <a:pt x="5959112" y="4446987"/>
                </a:lnTo>
                <a:lnTo>
                  <a:pt x="0" y="4446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9066" y="37216"/>
            <a:ext cx="4029868" cy="178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02"/>
              </a:lnSpc>
              <a:spcBef>
                <a:spcPct val="0"/>
              </a:spcBef>
            </a:pPr>
            <a:r>
              <a:rPr lang="en-US" sz="1043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49548" y="1794261"/>
            <a:ext cx="6100366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LOG REGRESSION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RMSE: 5443.38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R2: 0.68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Some negative predictions,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accurately follows linear trends but struggles with non-linear relationships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7982" y="1794261"/>
            <a:ext cx="6100366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RANDOM FOREST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RMSE: 3956.30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R2: 0.83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Mean residual: -21.18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Std of residuals: 3956.26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MAE: 2362.32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2856" y="0"/>
            <a:ext cx="15585144" cy="12496451"/>
          </a:xfrm>
          <a:custGeom>
            <a:avLst/>
            <a:gdLst/>
            <a:ahLst/>
            <a:cxnLst/>
            <a:rect r="r" b="b" t="t" l="l"/>
            <a:pathLst>
              <a:path h="12496451" w="15585144">
                <a:moveTo>
                  <a:pt x="0" y="0"/>
                </a:moveTo>
                <a:lnTo>
                  <a:pt x="15585144" y="0"/>
                </a:lnTo>
                <a:lnTo>
                  <a:pt x="15585144" y="12496451"/>
                </a:lnTo>
                <a:lnTo>
                  <a:pt x="0" y="12496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26538" y="-4654377"/>
            <a:ext cx="12882287" cy="10329252"/>
          </a:xfrm>
          <a:custGeom>
            <a:avLst/>
            <a:gdLst/>
            <a:ahLst/>
            <a:cxnLst/>
            <a:rect r="r" b="b" t="t" l="l"/>
            <a:pathLst>
              <a:path h="10329252" w="12882287">
                <a:moveTo>
                  <a:pt x="0" y="0"/>
                </a:moveTo>
                <a:lnTo>
                  <a:pt x="12882288" y="0"/>
                </a:lnTo>
                <a:lnTo>
                  <a:pt x="12882288" y="10329253"/>
                </a:lnTo>
                <a:lnTo>
                  <a:pt x="0" y="10329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26492"/>
            <a:ext cx="16230600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Random Forest outperforms Linear Regression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Lower RMSE and R2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Both models have relatively high RMSE given that the vast majority of cars sell for under 50k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Influential Features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Odometer, make, and body type were the most powerful predictors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Transmission, interior material, and color were the least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Residuals (Random Forest Only)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Mean: slightly underestimates price but is very close to 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Standard Deviation: very high, almost 10% error per prediction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MAE: lower than STD, not as affected by outliers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Conclusion: Random Forest was very effective at predicting car selling prices but struggled with outliers at extremely high or low costs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61698" y="4850456"/>
            <a:ext cx="3088899" cy="2795540"/>
          </a:xfrm>
          <a:custGeom>
            <a:avLst/>
            <a:gdLst/>
            <a:ahLst/>
            <a:cxnLst/>
            <a:rect r="r" b="b" t="t" l="l"/>
            <a:pathLst>
              <a:path h="2795540" w="3088899">
                <a:moveTo>
                  <a:pt x="0" y="0"/>
                </a:moveTo>
                <a:lnTo>
                  <a:pt x="3088899" y="0"/>
                </a:lnTo>
                <a:lnTo>
                  <a:pt x="3088899" y="2795540"/>
                </a:lnTo>
                <a:lnTo>
                  <a:pt x="0" y="2795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0225"/>
            <a:ext cx="5089980" cy="178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02"/>
              </a:lnSpc>
              <a:spcBef>
                <a:spcPct val="0"/>
              </a:spcBef>
            </a:pPr>
            <a:r>
              <a:rPr lang="en-US" sz="1043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DAG7GShJpOQ</dc:identifier>
  <dcterms:modified xsi:type="dcterms:W3CDTF">2011-08-01T06:04:30Z</dcterms:modified>
  <cp:revision>1</cp:revision>
  <dc:title>Final Presentation</dc:title>
</cp:coreProperties>
</file>